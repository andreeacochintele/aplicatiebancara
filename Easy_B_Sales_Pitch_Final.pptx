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0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B comes from Easy Banking. The bee and hive visuals make the product feel friendly and memorable while the dark-gold palette keeps it credible for a banking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works like one central hive: money, cards, insights and credit tools come together in a simple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banking backbone: wallets, transactions and ledger entries make the system structured and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demo area: the user can manage cards, see credit features and issue cards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are the money-flow layer. The nectar metaphor makes the feature easy to remember without weakening the banking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help users understand their behavior, while rewards give them a reason to keep using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syb_bg_n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377440" y="1097280"/>
            <a:ext cx="6583680" cy="420624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08760"/>
            <a:ext cx="1359325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2788920"/>
            <a:ext cx="54864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0" b="1">
                <a:solidFill>
                  <a:srgbClr val="F5F7FA"/>
                </a:solidFill>
              </a:rPr>
              <a:t>Easy </a:t>
            </a:r>
            <a:r>
              <a:rPr sz="6000" b="1">
                <a:solidFill>
                  <a:srgbClr val="E849D8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675887"/>
            <a:ext cx="53035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500" b="0">
                <a:solidFill>
                  <a:srgbClr val="E849D8"/>
                </a:solidFill>
              </a:rPr>
              <a:t>Easy Banking Web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4251960"/>
            <a:ext cx="56692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CDD7E6"/>
                </a:solidFill>
              </a:rPr>
              <a:t>Simple. Smart. Friendly banking.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51008" y="59710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syb_bg_n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" y="137160"/>
            <a:ext cx="14173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E849D8"/>
                </a:solidFill>
              </a:rP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6629400" cy="498348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051560"/>
            <a:ext cx="57607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F5F7FA"/>
                </a:solidFill>
              </a:rPr>
              <a:t>Echipa de dezvoltare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682496"/>
            <a:ext cx="3794760" cy="27432"/>
          </a:xfrm>
          <a:prstGeom prst="rect">
            <a:avLst/>
          </a:prstGeom>
          <a:solidFill>
            <a:srgbClr val="38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303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E849D8"/>
                </a:solidFill>
              </a:rPr>
              <a:t>Cine a lucrat pe 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2606040" cy="114300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569464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Dev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49D8"/>
                </a:solidFill>
              </a:rPr>
              <a:t>Ce a făcut: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7296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CDD7E6"/>
                </a:solidFill>
              </a:rPr>
              <a:t>Adaugă rol / funcționalitate aici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423160"/>
            <a:ext cx="2606040" cy="114300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9352" y="2569464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Dev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9260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49D8"/>
                </a:solidFill>
              </a:rPr>
              <a:t>Ce a făcut: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317296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CDD7E6"/>
                </a:solidFill>
              </a:rPr>
              <a:t>Adaugă rol / funcționalitate aici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2606040" cy="114300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123944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Dev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80559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49D8"/>
                </a:solidFill>
              </a:rPr>
              <a:t>Ce a făcut: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72744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CDD7E6"/>
                </a:solidFill>
              </a:rPr>
              <a:t>Adaugă rol / funcționalitate aici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977639"/>
            <a:ext cx="2606040" cy="1143000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9352" y="4123944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Dev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4480559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49D8"/>
                </a:solidFill>
              </a:rPr>
              <a:t>Ce a făcut: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472744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CDD7E6"/>
                </a:solidFill>
              </a:rPr>
              <a:t>Adaugă rol / funcționalitate aici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937760"/>
            <a:ext cx="2926080" cy="621792"/>
          </a:xfrm>
          <a:prstGeom prst="roundRect">
            <a:avLst/>
          </a:prstGeom>
          <a:solidFill>
            <a:srgbClr val="051230"/>
          </a:solidFill>
          <a:ln w="17780">
            <a:solidFill>
              <a:srgbClr val="E84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5047488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E849D8"/>
                </a:solidFill>
              </a:rPr>
              <a:t>Banking ușor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8" y="59710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4" name="Rectangle 1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F48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6F4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68680" y="100584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5F7FA"/>
                </a:solidFill>
              </a:rPr>
              <a:t>Banking-ul nu trebuie să fie complicat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896112" y="2148840"/>
            <a:ext cx="6172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Problema pe care o rezolvăm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2907792"/>
            <a:ext cx="6355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sz="2600" b="1">
                <a:solidFill>
                  <a:srgbClr val="F5C242"/>
                </a:solidFill>
              </a:rPr>
              <a:t>Prea mulți pași</a:t>
            </a:r>
            <a:r>
              <a:rPr sz="2600">
                <a:solidFill>
                  <a:srgbClr val="F5F7FA"/>
                </a:solidFill>
              </a:rPr>
              <a:t> pentru operațiuni simple</a:t>
            </a:r>
            <a:endParaRPr lang="en-US" sz="3200" dirty="0"/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F5C242"/>
                </a:solidFill>
              </a:rPr>
              <a:t>Prea puțină claritate</a:t>
            </a:r>
            <a:r>
              <a:rPr sz="2600">
                <a:solidFill>
                  <a:srgbClr val="F5F7FA"/>
                </a:solidFill>
              </a:rPr>
              <a:t> asupra banilor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F5C242"/>
                </a:solidFill>
              </a:rPr>
              <a:t>Prea multă fricțiune</a:t>
            </a:r>
            <a:r>
              <a:rPr sz="2600">
                <a:solidFill>
                  <a:srgbClr val="F5F7FA"/>
                </a:solidFill>
              </a:rPr>
              <a:t> între utilizator și bancă</a:t>
            </a:r>
          </a:p>
        </p:txBody>
      </p:sp>
      <p:sp>
        <p:nvSpPr>
          <p:cNvPr id="8" name="Shape 5"/>
          <p:cNvSpPr/>
          <p:nvPr/>
        </p:nvSpPr>
        <p:spPr>
          <a:xfrm>
            <a:off x="896112" y="4389120"/>
            <a:ext cx="5440680" cy="18288"/>
          </a:xfrm>
          <a:prstGeom prst="line">
            <a:avLst/>
          </a:prstGeom>
          <a:solidFill>
            <a:srgbClr val="6F48FF"/>
          </a:solidFill>
          <a:ln w="2540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96112" y="4818888"/>
            <a:ext cx="63550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5C242"/>
                </a:solidFill>
              </a:rPr>
              <a:t>De aici începe Easy 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3/9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3" name="TextBox 12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6F48FF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45C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" y="987552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F5F7FA"/>
                </a:solidFill>
              </a:rPr>
              <a:t>Totul într-o singură experiență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3977639" cy="18288"/>
          </a:xfrm>
          <a:prstGeom prst="line">
            <a:avLst/>
          </a:prstGeom>
          <a:solidFill>
            <a:srgbClr val="E245CB"/>
          </a:solidFill>
          <a:ln w="2921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Easy B conectează viața financiară de zi cu zi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50592"/>
            <a:ext cx="6473952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800" b="1">
                <a:solidFill>
                  <a:srgbClr val="F5C242"/>
                </a:solidFill>
              </a:rPr>
              <a:t>Plăți</a:t>
            </a:r>
            <a:endParaRPr lang="en-US" sz="28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5C242"/>
                </a:solidFill>
              </a:rPr>
              <a:t>Exchange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5C242"/>
                </a:solidFill>
              </a:rPr>
              <a:t>Carduri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5C242"/>
                </a:solidFill>
              </a:rPr>
              <a:t>Credit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5C242"/>
                </a:solidFill>
              </a:rPr>
              <a:t>Analytics</a:t>
            </a:r>
          </a:p>
        </p:txBody>
      </p:sp>
      <p:sp>
        <p:nvSpPr>
          <p:cNvPr id="9" name="Shape 6"/>
          <p:cNvSpPr/>
          <p:nvPr/>
        </p:nvSpPr>
        <p:spPr>
          <a:xfrm>
            <a:off x="7882127" y="5321808"/>
            <a:ext cx="3246120" cy="658368"/>
          </a:xfrm>
          <a:prstGeom prst="roundRect">
            <a:avLst>
              <a:gd name="adj" fmla="val 11429"/>
            </a:avLst>
          </a:prstGeom>
          <a:solidFill>
            <a:srgbClr val="061230">
              <a:alpha val="96000"/>
            </a:srgbClr>
          </a:solidFill>
          <a:ln w="16510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882127" y="5449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5F7FA"/>
                </a:solidFill>
              </a:rPr>
              <a:t>One app. Full control.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4/9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4" name="TextBox 13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E245CB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F48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6F4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" y="987552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F5F7FA"/>
                </a:solidFill>
              </a:rPr>
              <a:t>Bani care se mișcă cu tine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3977639" cy="18288"/>
          </a:xfrm>
          <a:prstGeom prst="line">
            <a:avLst/>
          </a:prstGeom>
          <a:solidFill>
            <a:srgbClr val="6F48FF"/>
          </a:solidFill>
          <a:ln w="2921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Pentru oameni care folosesc bani în mai multe feluri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50592"/>
            <a:ext cx="6473952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400" b="1">
                <a:solidFill>
                  <a:srgbClr val="F5C242"/>
                </a:solidFill>
              </a:rPr>
              <a:t>30 de valute</a:t>
            </a:r>
            <a:r>
              <a:rPr sz="2400" b="0">
                <a:solidFill>
                  <a:srgbClr val="F5F7FA"/>
                </a:solidFill>
              </a:rPr>
              <a:t> disponibile</a:t>
            </a:r>
            <a:endParaRPr lang="en-US" sz="31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Exchange instant</a:t>
            </a:r>
            <a:r>
              <a:rPr sz="2400" b="0">
                <a:solidFill>
                  <a:srgbClr val="F5F7FA"/>
                </a:solidFill>
              </a:rPr>
              <a:t> cu rate live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IBAN • Telefon • QR</a:t>
            </a:r>
            <a:r>
              <a:rPr sz="2400" b="0">
                <a:solidFill>
                  <a:srgbClr val="F5F7FA"/>
                </a:solidFill>
              </a:rPr>
              <a:t> pentru transferuri rapide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Split &amp; schedule</a:t>
            </a:r>
            <a:r>
              <a:rPr sz="2400" b="0">
                <a:solidFill>
                  <a:srgbClr val="F5F7FA"/>
                </a:solidFill>
              </a:rPr>
              <a:t> pentru plățile reale de zi cu zi</a:t>
            </a:r>
          </a:p>
        </p:txBody>
      </p:sp>
      <p:sp>
        <p:nvSpPr>
          <p:cNvPr id="9" name="Shape 6"/>
          <p:cNvSpPr/>
          <p:nvPr/>
        </p:nvSpPr>
        <p:spPr>
          <a:xfrm>
            <a:off x="7882127" y="5321808"/>
            <a:ext cx="3246120" cy="658368"/>
          </a:xfrm>
          <a:prstGeom prst="roundRect">
            <a:avLst>
              <a:gd name="adj" fmla="val 11429"/>
            </a:avLst>
          </a:prstGeom>
          <a:solidFill>
            <a:srgbClr val="061230">
              <a:alpha val="96000"/>
            </a:srgbClr>
          </a:solidFill>
          <a:ln w="16510">
            <a:solidFill>
              <a:srgbClr val="6F4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882127" y="5449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5F7FA"/>
                </a:solidFill>
              </a:rPr>
              <a:t>Plăți + FX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5/9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4" name="TextBox 13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6F48FF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45C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" y="987552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F5F7FA"/>
                </a:solidFill>
              </a:rPr>
              <a:t>Credit fără cutie neagră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3977639" cy="18288"/>
          </a:xfrm>
          <a:prstGeom prst="line">
            <a:avLst/>
          </a:prstGeom>
          <a:solidFill>
            <a:srgbClr val="E245CB"/>
          </a:solidFill>
          <a:ln w="2921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Mai multă transparență pentru client, mai mult context pentru bancă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50592"/>
            <a:ext cx="6473952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400" b="1">
                <a:solidFill>
                  <a:srgbClr val="F5C242"/>
                </a:solidFill>
              </a:rPr>
              <a:t>Credit score</a:t>
            </a:r>
            <a:r>
              <a:rPr sz="2400" b="0">
                <a:solidFill>
                  <a:srgbClr val="F5F7FA"/>
                </a:solidFill>
              </a:rPr>
              <a:t> vizibil</a:t>
            </a:r>
            <a:endParaRPr lang="en-US" sz="30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Carduri &amp; limite</a:t>
            </a:r>
            <a:r>
              <a:rPr sz="2400" b="0">
                <a:solidFill>
                  <a:srgbClr val="F5F7FA"/>
                </a:solidFill>
              </a:rPr>
              <a:t> adaptate profilului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Analiză de loan</a:t>
            </a:r>
            <a:r>
              <a:rPr sz="2400" b="0">
                <a:solidFill>
                  <a:srgbClr val="F5F7FA"/>
                </a:solidFill>
              </a:rPr>
              <a:t> bazată pe comportament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Review uman</a:t>
            </a:r>
            <a:r>
              <a:rPr sz="2400" b="0">
                <a:solidFill>
                  <a:srgbClr val="F5F7FA"/>
                </a:solidFill>
              </a:rPr>
              <a:t> pentru deciziile importante</a:t>
            </a:r>
          </a:p>
        </p:txBody>
      </p:sp>
      <p:sp>
        <p:nvSpPr>
          <p:cNvPr id="9" name="Shape 6"/>
          <p:cNvSpPr/>
          <p:nvPr/>
        </p:nvSpPr>
        <p:spPr>
          <a:xfrm>
            <a:off x="7882127" y="5321808"/>
            <a:ext cx="3246120" cy="658368"/>
          </a:xfrm>
          <a:prstGeom prst="roundRect">
            <a:avLst>
              <a:gd name="adj" fmla="val 11429"/>
            </a:avLst>
          </a:prstGeom>
          <a:solidFill>
            <a:srgbClr val="061230">
              <a:alpha val="96000"/>
            </a:srgbClr>
          </a:solidFill>
          <a:ln w="16510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882127" y="5449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5F7FA"/>
                </a:solidFill>
              </a:rPr>
              <a:t>Smarter credit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6/9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4" name="TextBox 13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E245CB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F48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6F4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" y="987552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F5F7FA"/>
                </a:solidFill>
              </a:rPr>
              <a:t>Finanțele tale, explicate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3977639" cy="18288"/>
          </a:xfrm>
          <a:prstGeom prst="line">
            <a:avLst/>
          </a:prstGeom>
          <a:solidFill>
            <a:srgbClr val="6F48FF"/>
          </a:solidFill>
          <a:ln w="2921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Nu doar vezi tranzacții. Le înțelegi.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50592"/>
            <a:ext cx="6473952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400" b="1">
                <a:solidFill>
                  <a:srgbClr val="F5C242"/>
                </a:solidFill>
              </a:rPr>
              <a:t>Asistent AI</a:t>
            </a:r>
            <a:r>
              <a:rPr sz="2400" b="0">
                <a:solidFill>
                  <a:srgbClr val="F5F7FA"/>
                </a:solidFill>
              </a:rPr>
              <a:t> pentru întrebări naturale</a:t>
            </a:r>
            <a:endParaRPr lang="en-US" sz="30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Analytics</a:t>
            </a:r>
            <a:r>
              <a:rPr sz="2400" b="0">
                <a:solidFill>
                  <a:srgbClr val="F5F7FA"/>
                </a:solidFill>
              </a:rPr>
              <a:t> pe categorii, bugete și obiective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Forecast lunar</a:t>
            </a:r>
            <a:r>
              <a:rPr sz="2400" b="0">
                <a:solidFill>
                  <a:srgbClr val="F5F7FA"/>
                </a:solidFill>
              </a:rPr>
              <a:t> pentru control mai bun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AI sugerează.</a:t>
            </a:r>
            <a:r>
              <a:rPr sz="2400" b="0">
                <a:solidFill>
                  <a:srgbClr val="F5F7FA"/>
                </a:solidFill>
              </a:rPr>
              <a:t> Tu confirmi.</a:t>
            </a:r>
          </a:p>
        </p:txBody>
      </p:sp>
      <p:sp>
        <p:nvSpPr>
          <p:cNvPr id="9" name="Shape 6"/>
          <p:cNvSpPr/>
          <p:nvPr/>
        </p:nvSpPr>
        <p:spPr>
          <a:xfrm>
            <a:off x="7882127" y="5321808"/>
            <a:ext cx="3246120" cy="658368"/>
          </a:xfrm>
          <a:prstGeom prst="roundRect">
            <a:avLst>
              <a:gd name="adj" fmla="val 11429"/>
            </a:avLst>
          </a:prstGeom>
          <a:solidFill>
            <a:srgbClr val="061230">
              <a:alpha val="96000"/>
            </a:srgbClr>
          </a:solidFill>
          <a:ln w="16510">
            <a:solidFill>
              <a:srgbClr val="6F4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882127" y="5449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5F7FA"/>
                </a:solidFill>
              </a:rPr>
              <a:t>Clarity layer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7/9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4" name="TextBox 13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F5F7FA"/>
                </a:solidFill>
              </a:rPr>
              <a:t>Easy </a:t>
            </a:r>
            <a:r>
              <a:rPr sz="2200" b="1" dirty="0">
                <a:solidFill>
                  <a:srgbClr val="6F48FF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asyb_honeycomb_glow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45C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/>
          <p:cNvSpPr/>
          <p:nvPr/>
        </p:nvSpPr>
        <p:spPr>
          <a:xfrm>
            <a:off x="566928" y="804672"/>
            <a:ext cx="7150608" cy="5413248"/>
          </a:xfrm>
          <a:prstGeom prst="roundRect">
            <a:avLst>
              <a:gd name="adj" fmla="val 1869"/>
            </a:avLst>
          </a:prstGeom>
          <a:solidFill>
            <a:srgbClr val="061230"/>
          </a:solidFill>
          <a:ln w="17145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BFF"/>
                </a:solidFill>
              </a:rPr>
              <a:t>Easy B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" y="987552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F5F7FA"/>
                </a:solidFill>
              </a:rPr>
              <a:t>De ce ar folosi oamenii Easy B?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3977639" cy="18288"/>
          </a:xfrm>
          <a:prstGeom prst="line">
            <a:avLst/>
          </a:prstGeom>
          <a:solidFill>
            <a:srgbClr val="E245CB"/>
          </a:solidFill>
          <a:ln w="29210">
            <a:solid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FE8F0"/>
                </a:solidFill>
              </a:rPr>
              <a:t>Creat pentru clienți digitali activi, în special 18–40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50592"/>
            <a:ext cx="6473952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400" b="1">
                <a:solidFill>
                  <a:srgbClr val="F5C242"/>
                </a:solidFill>
              </a:rPr>
              <a:t>Mai rapid</a:t>
            </a:r>
            <a:r>
              <a:rPr sz="2400" b="0">
                <a:solidFill>
                  <a:srgbClr val="F5F7FA"/>
                </a:solidFill>
              </a:rPr>
              <a:t> în operațiunile zilnice</a:t>
            </a:r>
            <a:endParaRPr lang="en-US" sz="31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Mai clar</a:t>
            </a:r>
            <a:r>
              <a:rPr sz="2400" b="0">
                <a:solidFill>
                  <a:srgbClr val="F5F7FA"/>
                </a:solidFill>
              </a:rPr>
              <a:t> în deciziile financiare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Mai personal</a:t>
            </a:r>
            <a:r>
              <a:rPr sz="2400" b="0">
                <a:solidFill>
                  <a:srgbClr val="F5F7FA"/>
                </a:solidFill>
              </a:rPr>
              <a:t> prin credit score și insights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5C242"/>
                </a:solidFill>
              </a:rPr>
              <a:t>Mai rewarding</a:t>
            </a:r>
            <a:r>
              <a:rPr sz="2400" b="0">
                <a:solidFill>
                  <a:srgbClr val="F5F7FA"/>
                </a:solidFill>
              </a:rPr>
              <a:t> prin cashback și membership</a:t>
            </a:r>
          </a:p>
        </p:txBody>
      </p:sp>
      <p:sp>
        <p:nvSpPr>
          <p:cNvPr id="9" name="Shape 6"/>
          <p:cNvSpPr/>
          <p:nvPr/>
        </p:nvSpPr>
        <p:spPr>
          <a:xfrm>
            <a:off x="7882127" y="5321808"/>
            <a:ext cx="3246120" cy="658368"/>
          </a:xfrm>
          <a:prstGeom prst="roundRect">
            <a:avLst>
              <a:gd name="adj" fmla="val 11429"/>
            </a:avLst>
          </a:prstGeom>
          <a:solidFill>
            <a:srgbClr val="061230">
              <a:alpha val="96000"/>
            </a:srgbClr>
          </a:solidFill>
          <a:ln w="16510">
            <a:solidFill>
              <a:srgbClr val="E245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882127" y="5449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5F7FA"/>
                </a:solidFill>
              </a:rPr>
              <a:t>Selling point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8/9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54864"/>
            <a:ext cx="1965960" cy="749808"/>
          </a:xfrm>
          <a:prstGeom prst="rect">
            <a:avLst/>
          </a:prstGeom>
          <a:solidFill>
            <a:srgbClr val="04163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asyb_logo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09728"/>
            <a:ext cx="503454" cy="457200"/>
          </a:xfrm>
          <a:prstGeom prst="rect">
            <a:avLst/>
          </a:prstGeom>
          <a:ln>
            <a:solidFill/>
          </a:ln>
        </p:spPr>
      </p:pic>
      <p:sp>
        <p:nvSpPr>
          <p:cNvPr id="14" name="TextBox 13"/>
          <p:cNvSpPr txBox="1"/>
          <p:nvPr/>
        </p:nvSpPr>
        <p:spPr>
          <a:xfrm>
            <a:off x="768096" y="1371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A"/>
                </a:solidFill>
              </a:rPr>
              <a:t>Easy </a:t>
            </a:r>
            <a:r>
              <a:rPr sz="2200" b="1">
                <a:solidFill>
                  <a:srgbClr val="E245CB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65960" y="960120"/>
            <a:ext cx="8275320" cy="4800600"/>
          </a:xfrm>
          <a:prstGeom prst="roundRect">
            <a:avLst/>
          </a:prstGeom>
          <a:solidFill>
            <a:srgbClr val="051230"/>
          </a:solidFill>
          <a:ln w="31750">
            <a:solidFill>
              <a:srgbClr val="87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184" y="1417320"/>
            <a:ext cx="1359325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5387" y="2788920"/>
            <a:ext cx="7360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7FA"/>
                </a:solidFill>
              </a:rPr>
              <a:t>Mulțumim pentru atenție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6827" y="3794760"/>
            <a:ext cx="7178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DFE8F0"/>
                </a:solidFill>
              </a:rPr>
              <a:t>Întrebări?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</Words>
  <Application>Microsoft Macintosh PowerPoint</Application>
  <PresentationFormat>Widescreen</PresentationFormat>
  <Paragraphs>96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Easy 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B Banking App</dc:title>
  <dc:subject>Easy B Banking App</dc:subject>
  <dc:creator>OpenAI</dc:creator>
  <cp:lastModifiedBy>Luca Stefu</cp:lastModifiedBy>
  <cp:revision>2</cp:revision>
  <dcterms:created xsi:type="dcterms:W3CDTF">2026-08-28T11:21:00Z</dcterms:created>
  <dcterms:modified xsi:type="dcterms:W3CDTF">2026-08-30T08:13:35Z</dcterms:modified>
</cp:coreProperties>
</file>